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8CA"/>
          </a:solidFill>
        </a:fill>
      </a:tcStyle>
    </a:wholeTbl>
    <a:band2H>
      <a:tcTxStyle b="def" i="def"/>
      <a:tcStyle>
        <a:tcBdr/>
        <a:fill>
          <a:solidFill>
            <a:srgbClr val="FAEC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0CD"/>
          </a:solidFill>
        </a:fill>
      </a:tcStyle>
    </a:wholeTbl>
    <a:band2H>
      <a:tcTxStyle b="def" i="def"/>
      <a:tcStyle>
        <a:tcBdr/>
        <a:fill>
          <a:solidFill>
            <a:srgbClr val="EDE9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DFD9"/>
          </a:solidFill>
        </a:fill>
      </a:tcStyle>
    </a:wholeTbl>
    <a:band2H>
      <a:tcTxStyle b="def" i="def"/>
      <a:tcStyle>
        <a:tcBdr/>
        <a:fill>
          <a:solidFill>
            <a:srgbClr val="EEF0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4" name="Rectangle 6"/>
          <p:cNvSpPr/>
          <p:nvPr/>
        </p:nvSpPr>
        <p:spPr>
          <a:xfrm>
            <a:off x="3175" y="6400800"/>
            <a:ext cx="12188825" cy="457200"/>
          </a:xfrm>
          <a:prstGeom prst="rect">
            <a:avLst/>
          </a:prstGeom>
          <a:solidFill>
            <a:schemeClr val="accent2"/>
          </a:solidFill>
          <a:ln w="12700">
            <a:miter lim="400000"/>
          </a:ln>
        </p:spPr>
        <p:txBody>
          <a:bodyPr lIns="45719" rIns="45719"/>
          <a:lstStyle/>
          <a:p>
            <a:pPr/>
          </a:p>
        </p:txBody>
      </p:sp>
      <p:sp>
        <p:nvSpPr>
          <p:cNvPr id="15" name="Rectangle 7"/>
          <p:cNvSpPr/>
          <p:nvPr/>
        </p:nvSpPr>
        <p:spPr>
          <a:xfrm>
            <a:off x="14" y="6334316"/>
            <a:ext cx="12188826" cy="64009"/>
          </a:xfrm>
          <a:prstGeom prst="rect">
            <a:avLst/>
          </a:prstGeom>
          <a:solidFill>
            <a:schemeClr val="accent1"/>
          </a:solidFill>
          <a:ln w="12700">
            <a:miter lim="400000"/>
          </a:ln>
        </p:spPr>
        <p:txBody>
          <a:bodyPr lIns="45719" rIns="45719"/>
          <a:lstStyle/>
          <a:p>
            <a:pPr/>
          </a:p>
        </p:txBody>
      </p:sp>
      <p:sp>
        <p:nvSpPr>
          <p:cNvPr id="16" name="Title Text"/>
          <p:cNvSpPr txBox="1"/>
          <p:nvPr>
            <p:ph type="title"/>
          </p:nvPr>
        </p:nvSpPr>
        <p:spPr>
          <a:xfrm>
            <a:off x="1097280" y="758951"/>
            <a:ext cx="10058401" cy="3566161"/>
          </a:xfrm>
          <a:prstGeom prst="rect">
            <a:avLst/>
          </a:prstGeom>
        </p:spPr>
        <p:txBody>
          <a:bodyPr/>
          <a:lstStyle>
            <a:lvl1pPr>
              <a:defRPr sz="8000">
                <a:solidFill>
                  <a:srgbClr val="262626"/>
                </a:solidFill>
              </a:defRPr>
            </a:lvl1pPr>
          </a:lstStyle>
          <a:p>
            <a:pPr/>
            <a:r>
              <a:t>Title Text</a:t>
            </a:r>
          </a:p>
        </p:txBody>
      </p:sp>
      <p:sp>
        <p:nvSpPr>
          <p:cNvPr id="17" name="Body Level One…"/>
          <p:cNvSpPr txBox="1"/>
          <p:nvPr>
            <p:ph type="body" sz="quarter" idx="1"/>
          </p:nvPr>
        </p:nvSpPr>
        <p:spPr>
          <a:xfrm>
            <a:off x="1100050" y="4455619"/>
            <a:ext cx="10058401" cy="1143001"/>
          </a:xfrm>
          <a:prstGeom prst="rect">
            <a:avLst/>
          </a:prstGeom>
        </p:spPr>
        <p:txBody>
          <a:bodyPr lIns="45719" tIns="45719" rIns="45719" bIns="45719"/>
          <a:lstStyle>
            <a:lvl1pPr marL="0" indent="0">
              <a:buClrTx/>
              <a:buSzTx/>
              <a:buFontTx/>
              <a:buNone/>
              <a:defRPr cap="all" spc="200" sz="2400">
                <a:solidFill>
                  <a:srgbClr val="637052"/>
                </a:solidFill>
                <a:latin typeface="Calibri Light"/>
                <a:ea typeface="Calibri Light"/>
                <a:cs typeface="Calibri Light"/>
                <a:sym typeface="Calibri Light"/>
              </a:defRPr>
            </a:lvl1pPr>
            <a:lvl2pPr marL="0" indent="457200">
              <a:buClrTx/>
              <a:buSzTx/>
              <a:buFontTx/>
              <a:buNone/>
              <a:defRPr cap="all" spc="200" sz="2400">
                <a:solidFill>
                  <a:srgbClr val="637052"/>
                </a:solidFill>
                <a:latin typeface="Calibri Light"/>
                <a:ea typeface="Calibri Light"/>
                <a:cs typeface="Calibri Light"/>
                <a:sym typeface="Calibri Light"/>
              </a:defRPr>
            </a:lvl2pPr>
            <a:lvl3pPr marL="0" indent="914400">
              <a:buClrTx/>
              <a:buSzTx/>
              <a:buFontTx/>
              <a:buNone/>
              <a:defRPr cap="all" spc="200" sz="2400">
                <a:solidFill>
                  <a:srgbClr val="637052"/>
                </a:solidFill>
                <a:latin typeface="Calibri Light"/>
                <a:ea typeface="Calibri Light"/>
                <a:cs typeface="Calibri Light"/>
                <a:sym typeface="Calibri Light"/>
              </a:defRPr>
            </a:lvl3pPr>
            <a:lvl4pPr marL="0" indent="1371600">
              <a:buClrTx/>
              <a:buSzTx/>
              <a:buFontTx/>
              <a:buNone/>
              <a:defRPr cap="all" spc="200" sz="2400">
                <a:solidFill>
                  <a:srgbClr val="637052"/>
                </a:solidFill>
                <a:latin typeface="Calibri Light"/>
                <a:ea typeface="Calibri Light"/>
                <a:cs typeface="Calibri Light"/>
                <a:sym typeface="Calibri Light"/>
              </a:defRPr>
            </a:lvl4pPr>
            <a:lvl5pPr marL="0" indent="1828800">
              <a:buClrTx/>
              <a:buSzTx/>
              <a:buFontTx/>
              <a:buNone/>
              <a:defRPr cap="all" spc="200" sz="2400">
                <a:solidFill>
                  <a:srgbClr val="637052"/>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sp>
        <p:nvSpPr>
          <p:cNvPr id="18" name="Straight Connector 8"/>
          <p:cNvSpPr/>
          <p:nvPr/>
        </p:nvSpPr>
        <p:spPr>
          <a:xfrm>
            <a:off x="1207657" y="4343400"/>
            <a:ext cx="9875522" cy="0"/>
          </a:xfrm>
          <a:prstGeom prst="line">
            <a:avLst/>
          </a:prstGeom>
          <a:ln w="6350">
            <a:solidFill>
              <a:srgbClr val="808080"/>
            </a:solidFill>
          </a:ln>
        </p:spPr>
        <p:txBody>
          <a:bodyPr lIns="45719" rIns="45719"/>
          <a:lstStyle/>
          <a:p>
            <a:pP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6" name="Title Text"/>
          <p:cNvSpPr txBox="1"/>
          <p:nvPr>
            <p:ph type="title"/>
          </p:nvPr>
        </p:nvSpPr>
        <p:spPr>
          <a:prstGeom prst="rect">
            <a:avLst/>
          </a:prstGeom>
        </p:spPr>
        <p:txBody>
          <a:bodyPr/>
          <a:lstStyle/>
          <a:p>
            <a:pPr/>
            <a:r>
              <a:t>Title Text</a:t>
            </a:r>
          </a:p>
        </p:txBody>
      </p:sp>
      <p:sp>
        <p:nvSpPr>
          <p:cNvPr id="27" name="Body Level One…"/>
          <p:cNvSpPr txBox="1"/>
          <p:nvPr>
            <p:ph type="body" idx="1"/>
          </p:nvPr>
        </p:nvSpPr>
        <p:spPr>
          <a:xfrm>
            <a:off x="1097280" y="1845734"/>
            <a:ext cx="1005840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35" name="Rectangle 6"/>
          <p:cNvSpPr/>
          <p:nvPr/>
        </p:nvSpPr>
        <p:spPr>
          <a:xfrm>
            <a:off x="3175" y="6400800"/>
            <a:ext cx="12188825" cy="457200"/>
          </a:xfrm>
          <a:prstGeom prst="rect">
            <a:avLst/>
          </a:prstGeom>
          <a:solidFill>
            <a:schemeClr val="accent2"/>
          </a:solidFill>
          <a:ln w="12700">
            <a:miter lim="400000"/>
          </a:ln>
        </p:spPr>
        <p:txBody>
          <a:bodyPr lIns="45719" rIns="45719"/>
          <a:lstStyle/>
          <a:p>
            <a:pPr/>
          </a:p>
        </p:txBody>
      </p:sp>
      <p:sp>
        <p:nvSpPr>
          <p:cNvPr id="36" name="Rectangle 7"/>
          <p:cNvSpPr/>
          <p:nvPr/>
        </p:nvSpPr>
        <p:spPr>
          <a:xfrm>
            <a:off x="14" y="6334316"/>
            <a:ext cx="12188826" cy="64009"/>
          </a:xfrm>
          <a:prstGeom prst="rect">
            <a:avLst/>
          </a:prstGeom>
          <a:solidFill>
            <a:schemeClr val="accent1"/>
          </a:solidFill>
          <a:ln w="12700">
            <a:miter lim="400000"/>
          </a:ln>
        </p:spPr>
        <p:txBody>
          <a:bodyPr lIns="45719" rIns="45719"/>
          <a:lstStyle/>
          <a:p>
            <a:pPr/>
          </a:p>
        </p:txBody>
      </p:sp>
      <p:sp>
        <p:nvSpPr>
          <p:cNvPr id="37" name="Title Text"/>
          <p:cNvSpPr txBox="1"/>
          <p:nvPr>
            <p:ph type="title"/>
          </p:nvPr>
        </p:nvSpPr>
        <p:spPr>
          <a:xfrm>
            <a:off x="1097280" y="758951"/>
            <a:ext cx="10058401" cy="3566161"/>
          </a:xfrm>
          <a:prstGeom prst="rect">
            <a:avLst/>
          </a:prstGeom>
        </p:spPr>
        <p:txBody>
          <a:bodyPr/>
          <a:lstStyle>
            <a:lvl1pPr>
              <a:defRPr sz="8000">
                <a:solidFill>
                  <a:srgbClr val="262626"/>
                </a:solidFill>
              </a:defRPr>
            </a:lvl1pPr>
          </a:lstStyle>
          <a:p>
            <a:pPr/>
            <a:r>
              <a:t>Title Text</a:t>
            </a:r>
          </a:p>
        </p:txBody>
      </p:sp>
      <p:sp>
        <p:nvSpPr>
          <p:cNvPr id="38" name="Body Level One…"/>
          <p:cNvSpPr txBox="1"/>
          <p:nvPr>
            <p:ph type="body" sz="quarter" idx="1"/>
          </p:nvPr>
        </p:nvSpPr>
        <p:spPr>
          <a:xfrm>
            <a:off x="1097280" y="4453128"/>
            <a:ext cx="10058401" cy="1143001"/>
          </a:xfrm>
          <a:prstGeom prst="rect">
            <a:avLst/>
          </a:prstGeom>
        </p:spPr>
        <p:txBody>
          <a:bodyPr lIns="45719" tIns="45719" rIns="45719" bIns="45719"/>
          <a:lstStyle>
            <a:lvl1pPr marL="0" indent="0">
              <a:buClrTx/>
              <a:buSzTx/>
              <a:buFontTx/>
              <a:buNone/>
              <a:defRPr cap="all" spc="200" sz="2400">
                <a:solidFill>
                  <a:srgbClr val="637052"/>
                </a:solidFill>
                <a:latin typeface="Calibri Light"/>
                <a:ea typeface="Calibri Light"/>
                <a:cs typeface="Calibri Light"/>
                <a:sym typeface="Calibri Light"/>
              </a:defRPr>
            </a:lvl1pPr>
            <a:lvl2pPr marL="0" indent="457200">
              <a:buClrTx/>
              <a:buSzTx/>
              <a:buFontTx/>
              <a:buNone/>
              <a:defRPr cap="all" spc="200" sz="2400">
                <a:solidFill>
                  <a:srgbClr val="637052"/>
                </a:solidFill>
                <a:latin typeface="Calibri Light"/>
                <a:ea typeface="Calibri Light"/>
                <a:cs typeface="Calibri Light"/>
                <a:sym typeface="Calibri Light"/>
              </a:defRPr>
            </a:lvl2pPr>
            <a:lvl3pPr marL="0" indent="914400">
              <a:buClrTx/>
              <a:buSzTx/>
              <a:buFontTx/>
              <a:buNone/>
              <a:defRPr cap="all" spc="200" sz="2400">
                <a:solidFill>
                  <a:srgbClr val="637052"/>
                </a:solidFill>
                <a:latin typeface="Calibri Light"/>
                <a:ea typeface="Calibri Light"/>
                <a:cs typeface="Calibri Light"/>
                <a:sym typeface="Calibri Light"/>
              </a:defRPr>
            </a:lvl3pPr>
            <a:lvl4pPr marL="0" indent="1371600">
              <a:buClrTx/>
              <a:buSzTx/>
              <a:buFontTx/>
              <a:buNone/>
              <a:defRPr cap="all" spc="200" sz="2400">
                <a:solidFill>
                  <a:srgbClr val="637052"/>
                </a:solidFill>
                <a:latin typeface="Calibri Light"/>
                <a:ea typeface="Calibri Light"/>
                <a:cs typeface="Calibri Light"/>
                <a:sym typeface="Calibri Light"/>
              </a:defRPr>
            </a:lvl4pPr>
            <a:lvl5pPr marL="0" indent="1828800">
              <a:buClrTx/>
              <a:buSzTx/>
              <a:buFontTx/>
              <a:buNone/>
              <a:defRPr cap="all" spc="200" sz="2400">
                <a:solidFill>
                  <a:srgbClr val="637052"/>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sp>
        <p:nvSpPr>
          <p:cNvPr id="39" name="Straight Connector 8"/>
          <p:cNvSpPr/>
          <p:nvPr/>
        </p:nvSpPr>
        <p:spPr>
          <a:xfrm>
            <a:off x="1207657" y="4343400"/>
            <a:ext cx="9875522" cy="0"/>
          </a:xfrm>
          <a:prstGeom prst="line">
            <a:avLst/>
          </a:prstGeom>
          <a:ln w="6350">
            <a:solidFill>
              <a:srgbClr val="808080"/>
            </a:solidFill>
          </a:ln>
        </p:spPr>
        <p:txBody>
          <a:bodyPr lIns="45719" rIns="45719"/>
          <a:lstStyle/>
          <a:p>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half" idx="1"/>
          </p:nvPr>
        </p:nvSpPr>
        <p:spPr>
          <a:xfrm>
            <a:off x="1097278" y="1845734"/>
            <a:ext cx="493776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sz="quarter" idx="1"/>
          </p:nvPr>
        </p:nvSpPr>
        <p:spPr>
          <a:xfrm>
            <a:off x="1097280" y="1846052"/>
            <a:ext cx="4937760" cy="736283"/>
          </a:xfrm>
          <a:prstGeom prst="rect">
            <a:avLst/>
          </a:prstGeom>
        </p:spPr>
        <p:txBody>
          <a:bodyPr lIns="45719" tIns="45719" rIns="45719" bIns="45719" anchor="ctr"/>
          <a:lstStyle>
            <a:lvl1pPr marL="0" indent="0">
              <a:buClrTx/>
              <a:buSzTx/>
              <a:buFontTx/>
              <a:buNone/>
              <a:defRPr cap="all">
                <a:solidFill>
                  <a:srgbClr val="637052"/>
                </a:solidFill>
              </a:defRPr>
            </a:lvl1pPr>
            <a:lvl2pPr marL="0" indent="457200">
              <a:buClrTx/>
              <a:buSzTx/>
              <a:buFontTx/>
              <a:buNone/>
              <a:defRPr cap="all">
                <a:solidFill>
                  <a:srgbClr val="637052"/>
                </a:solidFill>
              </a:defRPr>
            </a:lvl2pPr>
            <a:lvl3pPr marL="0" indent="914400">
              <a:buClrTx/>
              <a:buSzTx/>
              <a:buFontTx/>
              <a:buNone/>
              <a:defRPr cap="all">
                <a:solidFill>
                  <a:srgbClr val="637052"/>
                </a:solidFill>
              </a:defRPr>
            </a:lvl3pPr>
            <a:lvl4pPr marL="0" indent="1371600">
              <a:buClrTx/>
              <a:buSzTx/>
              <a:buFontTx/>
              <a:buNone/>
              <a:defRPr cap="all">
                <a:solidFill>
                  <a:srgbClr val="637052"/>
                </a:solidFill>
              </a:defRPr>
            </a:lvl4pPr>
            <a:lvl5pPr marL="0" indent="1828800">
              <a:buClrTx/>
              <a:buSzTx/>
              <a:buFontTx/>
              <a:buNone/>
              <a:defRPr cap="all">
                <a:solidFill>
                  <a:srgbClr val="637052"/>
                </a:solidFill>
              </a:defRPr>
            </a:lvl5pPr>
          </a:lstStyle>
          <a:p>
            <a:pPr/>
            <a:r>
              <a:t>Body Level One</a:t>
            </a:r>
          </a:p>
          <a:p>
            <a:pPr lvl="1"/>
            <a:r>
              <a:t>Body Level Two</a:t>
            </a:r>
          </a:p>
          <a:p>
            <a:pPr lvl="2"/>
            <a:r>
              <a:t>Body Level Three</a:t>
            </a:r>
          </a:p>
          <a:p>
            <a:pPr lvl="3"/>
            <a:r>
              <a:t>Body Level Four</a:t>
            </a:r>
          </a:p>
          <a:p>
            <a:pPr lvl="4"/>
            <a:r>
              <a:t>Body Level Five</a:t>
            </a:r>
          </a:p>
        </p:txBody>
      </p:sp>
      <p:sp>
        <p:nvSpPr>
          <p:cNvPr id="58" name="Text Placeholder 4"/>
          <p:cNvSpPr/>
          <p:nvPr>
            <p:ph type="body" sz="quarter" idx="21"/>
          </p:nvPr>
        </p:nvSpPr>
        <p:spPr>
          <a:xfrm>
            <a:off x="6217920" y="1846052"/>
            <a:ext cx="4937761" cy="736283"/>
          </a:xfrm>
          <a:prstGeom prst="rect">
            <a:avLst/>
          </a:prstGeom>
        </p:spPr>
        <p:txBody>
          <a:bodyPr lIns="45719" tIns="45719" rIns="45719" bIns="45719" anchor="ctr"/>
          <a:lstStyle/>
          <a:p>
            <a:pPr marL="0" indent="0">
              <a:buClrTx/>
              <a:buSzTx/>
              <a:buFontTx/>
              <a:buNone/>
              <a:defRPr cap="all">
                <a:solidFill>
                  <a:srgbClr val="637052"/>
                </a:solidFill>
              </a:defRPr>
            </a:pP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6" name="Title Text"/>
          <p:cNvSpPr txBox="1"/>
          <p:nvPr>
            <p:ph type="title"/>
          </p:nvPr>
        </p:nvSpPr>
        <p:spPr>
          <a:prstGeom prst="rect">
            <a:avLst/>
          </a:prstGeom>
        </p:spPr>
        <p:txBody>
          <a:bodyPr/>
          <a:lstStyle/>
          <a:p>
            <a:pPr/>
            <a:r>
              <a:t>Title Text</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74" name="Rectangle 4"/>
          <p:cNvSpPr/>
          <p:nvPr/>
        </p:nvSpPr>
        <p:spPr>
          <a:xfrm>
            <a:off x="3175" y="6400800"/>
            <a:ext cx="12188825" cy="457200"/>
          </a:xfrm>
          <a:prstGeom prst="rect">
            <a:avLst/>
          </a:prstGeom>
          <a:solidFill>
            <a:schemeClr val="accent2"/>
          </a:solidFill>
          <a:ln w="12700">
            <a:miter lim="400000"/>
          </a:ln>
        </p:spPr>
        <p:txBody>
          <a:bodyPr lIns="45719" rIns="45719"/>
          <a:lstStyle/>
          <a:p>
            <a:pPr/>
          </a:p>
        </p:txBody>
      </p:sp>
      <p:sp>
        <p:nvSpPr>
          <p:cNvPr id="75" name="Rectangle 5"/>
          <p:cNvSpPr/>
          <p:nvPr/>
        </p:nvSpPr>
        <p:spPr>
          <a:xfrm>
            <a:off x="14" y="6334316"/>
            <a:ext cx="12188826" cy="64009"/>
          </a:xfrm>
          <a:prstGeom prst="rect">
            <a:avLst/>
          </a:prstGeom>
          <a:solidFill>
            <a:schemeClr val="accent1"/>
          </a:solidFill>
          <a:ln w="12700">
            <a:miter lim="400000"/>
          </a:ln>
        </p:spPr>
        <p:txBody>
          <a:bodyPr lIns="45719" rIns="45719"/>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sp>
        <p:nvSpPr>
          <p:cNvPr id="83" name="Rectangle 7"/>
          <p:cNvSpPr/>
          <p:nvPr/>
        </p:nvSpPr>
        <p:spPr>
          <a:xfrm>
            <a:off x="15" y="0"/>
            <a:ext cx="4050793" cy="6858000"/>
          </a:xfrm>
          <a:prstGeom prst="rect">
            <a:avLst/>
          </a:prstGeom>
          <a:solidFill>
            <a:schemeClr val="accent2"/>
          </a:solidFill>
          <a:ln w="12700">
            <a:miter lim="400000"/>
          </a:ln>
        </p:spPr>
        <p:txBody>
          <a:bodyPr lIns="45719" rIns="45719"/>
          <a:lstStyle/>
          <a:p>
            <a:pPr/>
          </a:p>
        </p:txBody>
      </p:sp>
      <p:sp>
        <p:nvSpPr>
          <p:cNvPr id="84" name="Rectangle 8"/>
          <p:cNvSpPr/>
          <p:nvPr/>
        </p:nvSpPr>
        <p:spPr>
          <a:xfrm>
            <a:off x="4040070" y="0"/>
            <a:ext cx="64009" cy="6858000"/>
          </a:xfrm>
          <a:prstGeom prst="rect">
            <a:avLst/>
          </a:prstGeom>
          <a:solidFill>
            <a:schemeClr val="accent1"/>
          </a:solidFill>
          <a:ln w="12700">
            <a:miter lim="400000"/>
          </a:ln>
        </p:spPr>
        <p:txBody>
          <a:bodyPr lIns="45719" rIns="45719"/>
          <a:lstStyle/>
          <a:p>
            <a:pPr/>
          </a:p>
        </p:txBody>
      </p:sp>
      <p:sp>
        <p:nvSpPr>
          <p:cNvPr id="85" name="Title Text"/>
          <p:cNvSpPr txBox="1"/>
          <p:nvPr>
            <p:ph type="title"/>
          </p:nvPr>
        </p:nvSpPr>
        <p:spPr>
          <a:xfrm>
            <a:off x="457200" y="594359"/>
            <a:ext cx="3200400" cy="2286001"/>
          </a:xfrm>
          <a:prstGeom prst="rect">
            <a:avLst/>
          </a:prstGeom>
        </p:spPr>
        <p:txBody>
          <a:bodyPr/>
          <a:lstStyle>
            <a:lvl1pPr>
              <a:defRPr sz="3600">
                <a:solidFill>
                  <a:srgbClr val="FFFFFF"/>
                </a:solidFill>
              </a:defRPr>
            </a:lvl1pPr>
          </a:lstStyle>
          <a:p>
            <a:pPr/>
            <a:r>
              <a:t>Title Text</a:t>
            </a:r>
          </a:p>
        </p:txBody>
      </p:sp>
      <p:sp>
        <p:nvSpPr>
          <p:cNvPr id="86" name="Body Level One…"/>
          <p:cNvSpPr txBox="1"/>
          <p:nvPr>
            <p:ph type="body" idx="1"/>
          </p:nvPr>
        </p:nvSpPr>
        <p:spPr>
          <a:xfrm>
            <a:off x="4800600" y="731519"/>
            <a:ext cx="6492241" cy="52578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7" name="Text Placeholder 3"/>
          <p:cNvSpPr/>
          <p:nvPr>
            <p:ph type="body" sz="quarter" idx="21"/>
          </p:nvPr>
        </p:nvSpPr>
        <p:spPr>
          <a:xfrm>
            <a:off x="457200" y="2926079"/>
            <a:ext cx="3200400" cy="3379125"/>
          </a:xfrm>
          <a:prstGeom prst="rect">
            <a:avLst/>
          </a:prstGeom>
        </p:spPr>
        <p:txBody>
          <a:bodyPr lIns="45719" tIns="45719" rIns="45719" bIns="45719"/>
          <a:lstStyle/>
          <a:p>
            <a:pPr marL="0" indent="0">
              <a:buClrTx/>
              <a:buSzTx/>
              <a:buFontTx/>
              <a:buNone/>
              <a:defRPr sz="1500">
                <a:solidFill>
                  <a:srgbClr val="FFFFFF"/>
                </a:solidFill>
              </a:defRPr>
            </a:pPr>
          </a:p>
        </p:txBody>
      </p:sp>
      <p:sp>
        <p:nvSpPr>
          <p:cNvPr id="88" name="Slide Number"/>
          <p:cNvSpPr txBox="1"/>
          <p:nvPr>
            <p:ph type="sldNum" sz="quarter" idx="2"/>
          </p:nvPr>
        </p:nvSpPr>
        <p:spPr>
          <a:prstGeom prst="rect">
            <a:avLst/>
          </a:prstGeom>
        </p:spPr>
        <p:txBody>
          <a:bodyPr/>
          <a:lstStyle>
            <a:lvl1pPr>
              <a:defRPr>
                <a:solidFill>
                  <a:srgbClr val="637052"/>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95" name="Rectangle 7"/>
          <p:cNvSpPr/>
          <p:nvPr/>
        </p:nvSpPr>
        <p:spPr>
          <a:xfrm>
            <a:off x="0" y="4953000"/>
            <a:ext cx="12188825" cy="1905000"/>
          </a:xfrm>
          <a:prstGeom prst="rect">
            <a:avLst/>
          </a:prstGeom>
          <a:solidFill>
            <a:schemeClr val="accent2"/>
          </a:solidFill>
          <a:ln w="12700">
            <a:miter lim="400000"/>
          </a:ln>
        </p:spPr>
        <p:txBody>
          <a:bodyPr lIns="45719" rIns="45719"/>
          <a:lstStyle/>
          <a:p>
            <a:pPr/>
          </a:p>
        </p:txBody>
      </p:sp>
      <p:sp>
        <p:nvSpPr>
          <p:cNvPr id="96" name="Rectangle 8"/>
          <p:cNvSpPr/>
          <p:nvPr/>
        </p:nvSpPr>
        <p:spPr>
          <a:xfrm>
            <a:off x="14" y="4915075"/>
            <a:ext cx="12188826" cy="64009"/>
          </a:xfrm>
          <a:prstGeom prst="rect">
            <a:avLst/>
          </a:prstGeom>
          <a:solidFill>
            <a:schemeClr val="accent1"/>
          </a:solidFill>
          <a:ln w="12700">
            <a:miter lim="400000"/>
          </a:ln>
        </p:spPr>
        <p:txBody>
          <a:bodyPr lIns="45719" rIns="45719"/>
          <a:lstStyle/>
          <a:p>
            <a:pPr/>
          </a:p>
        </p:txBody>
      </p:sp>
      <p:sp>
        <p:nvSpPr>
          <p:cNvPr id="97" name="Title Text"/>
          <p:cNvSpPr txBox="1"/>
          <p:nvPr>
            <p:ph type="title"/>
          </p:nvPr>
        </p:nvSpPr>
        <p:spPr>
          <a:xfrm>
            <a:off x="1097280" y="5074920"/>
            <a:ext cx="10113265" cy="822961"/>
          </a:xfrm>
          <a:prstGeom prst="rect">
            <a:avLst/>
          </a:prstGeom>
        </p:spPr>
        <p:txBody>
          <a:bodyPr lIns="0" tIns="0" rIns="0" bIns="0"/>
          <a:lstStyle>
            <a:lvl1pPr>
              <a:defRPr sz="3600">
                <a:solidFill>
                  <a:srgbClr val="FFFFFF"/>
                </a:solidFill>
              </a:defRPr>
            </a:lvl1pPr>
          </a:lstStyle>
          <a:p>
            <a:pPr/>
            <a:r>
              <a:t>Title Text</a:t>
            </a:r>
          </a:p>
        </p:txBody>
      </p:sp>
      <p:sp>
        <p:nvSpPr>
          <p:cNvPr id="98" name="Picture Placeholder 2"/>
          <p:cNvSpPr/>
          <p:nvPr>
            <p:ph type="pic" idx="21"/>
          </p:nvPr>
        </p:nvSpPr>
        <p:spPr>
          <a:xfrm>
            <a:off x="14" y="0"/>
            <a:ext cx="12191987" cy="4915076"/>
          </a:xfrm>
          <a:prstGeom prst="rect">
            <a:avLst/>
          </a:prstGeom>
        </p:spPr>
        <p:txBody>
          <a:bodyPr lIns="91439" tIns="45719" rIns="91439" bIns="45719">
            <a:noAutofit/>
          </a:bodyPr>
          <a:lstStyle/>
          <a:p>
            <a:pPr/>
          </a:p>
        </p:txBody>
      </p:sp>
      <p:sp>
        <p:nvSpPr>
          <p:cNvPr id="99" name="Body Level One…"/>
          <p:cNvSpPr txBox="1"/>
          <p:nvPr>
            <p:ph type="body" sz="quarter" idx="1"/>
          </p:nvPr>
        </p:nvSpPr>
        <p:spPr>
          <a:xfrm>
            <a:off x="1097280" y="5907023"/>
            <a:ext cx="10113265" cy="594361"/>
          </a:xfrm>
          <a:prstGeom prst="rect">
            <a:avLst/>
          </a:prstGeom>
        </p:spPr>
        <p:txBody>
          <a:bodyPr/>
          <a:lstStyle>
            <a:lvl1pPr marL="0" indent="0">
              <a:spcBef>
                <a:spcPts val="600"/>
              </a:spcBef>
              <a:buClrTx/>
              <a:buSzTx/>
              <a:buFontTx/>
              <a:buNone/>
              <a:defRPr sz="1500">
                <a:solidFill>
                  <a:srgbClr val="FFFFFF"/>
                </a:solidFill>
              </a:defRPr>
            </a:lvl1pPr>
            <a:lvl2pPr marL="0" indent="457200">
              <a:spcBef>
                <a:spcPts val="600"/>
              </a:spcBef>
              <a:buClrTx/>
              <a:buSzTx/>
              <a:buFontTx/>
              <a:buNone/>
              <a:defRPr sz="1500">
                <a:solidFill>
                  <a:srgbClr val="FFFFFF"/>
                </a:solidFill>
              </a:defRPr>
            </a:lvl2pPr>
            <a:lvl3pPr marL="0" indent="914400">
              <a:spcBef>
                <a:spcPts val="600"/>
              </a:spcBef>
              <a:buClrTx/>
              <a:buSzTx/>
              <a:buFontTx/>
              <a:buNone/>
              <a:defRPr sz="1500">
                <a:solidFill>
                  <a:srgbClr val="FFFFFF"/>
                </a:solidFill>
              </a:defRPr>
            </a:lvl3pPr>
            <a:lvl4pPr marL="0" indent="1371600">
              <a:spcBef>
                <a:spcPts val="600"/>
              </a:spcBef>
              <a:buClrTx/>
              <a:buSzTx/>
              <a:buFontTx/>
              <a:buNone/>
              <a:defRPr sz="1500">
                <a:solidFill>
                  <a:srgbClr val="FFFFFF"/>
                </a:solidFill>
              </a:defRPr>
            </a:lvl4pPr>
            <a:lvl5pPr marL="0" indent="1828800">
              <a:spcBef>
                <a:spcPts val="600"/>
              </a:spcBef>
              <a:buClrTx/>
              <a:buSzTx/>
              <a:buFontTx/>
              <a:buNone/>
              <a:defRPr sz="15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6"/>
          <p:cNvSpPr/>
          <p:nvPr/>
        </p:nvSpPr>
        <p:spPr>
          <a:xfrm>
            <a:off x="1" y="6400800"/>
            <a:ext cx="12192001" cy="457200"/>
          </a:xfrm>
          <a:prstGeom prst="rect">
            <a:avLst/>
          </a:prstGeom>
          <a:solidFill>
            <a:schemeClr val="accent2"/>
          </a:solidFill>
          <a:ln w="12700">
            <a:miter lim="400000"/>
          </a:ln>
        </p:spPr>
        <p:txBody>
          <a:bodyPr lIns="45719" rIns="45719"/>
          <a:lstStyle/>
          <a:p>
            <a:pPr/>
          </a:p>
        </p:txBody>
      </p:sp>
      <p:sp>
        <p:nvSpPr>
          <p:cNvPr id="3" name="Rectangle 8"/>
          <p:cNvSpPr/>
          <p:nvPr/>
        </p:nvSpPr>
        <p:spPr>
          <a:xfrm>
            <a:off x="-1" y="6334316"/>
            <a:ext cx="12192003" cy="65999"/>
          </a:xfrm>
          <a:prstGeom prst="rect">
            <a:avLst/>
          </a:prstGeom>
          <a:solidFill>
            <a:schemeClr val="accent1"/>
          </a:solidFill>
          <a:ln w="12700">
            <a:miter lim="400000"/>
          </a:ln>
        </p:spPr>
        <p:txBody>
          <a:bodyPr lIns="45719" rIns="45719"/>
          <a:lstStyle/>
          <a:p>
            <a:pPr/>
          </a:p>
        </p:txBody>
      </p:sp>
      <p:sp>
        <p:nvSpPr>
          <p:cNvPr id="4" name="Straight Connector 9"/>
          <p:cNvSpPr/>
          <p:nvPr/>
        </p:nvSpPr>
        <p:spPr>
          <a:xfrm>
            <a:off x="1193532" y="1737845"/>
            <a:ext cx="9966960" cy="1"/>
          </a:xfrm>
          <a:prstGeom prst="line">
            <a:avLst/>
          </a:prstGeom>
          <a:ln w="6350">
            <a:solidFill>
              <a:srgbClr val="808080"/>
            </a:solidFill>
          </a:ln>
        </p:spPr>
        <p:txBody>
          <a:bodyPr lIns="45719" rIns="45719"/>
          <a:lstStyle/>
          <a:p>
            <a:pPr/>
          </a:p>
        </p:txBody>
      </p:sp>
      <p:sp>
        <p:nvSpPr>
          <p:cNvPr id="5" name="Title Text"/>
          <p:cNvSpPr txBox="1"/>
          <p:nvPr>
            <p:ph type="title"/>
          </p:nvPr>
        </p:nvSpPr>
        <p:spPr>
          <a:xfrm>
            <a:off x="1097280" y="286603"/>
            <a:ext cx="10058401" cy="1450757"/>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Title Text</a:t>
            </a:r>
          </a:p>
        </p:txBody>
      </p:sp>
      <p:sp>
        <p:nvSpPr>
          <p:cNvPr id="6" name="Body Level One…"/>
          <p:cNvSpPr txBox="1"/>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7" name="Slide Number"/>
          <p:cNvSpPr txBox="1"/>
          <p:nvPr>
            <p:ph type="sldNum" sz="quarter" idx="2"/>
          </p:nvPr>
        </p:nvSpPr>
        <p:spPr>
          <a:xfrm>
            <a:off x="10979606" y="6528092"/>
            <a:ext cx="232878" cy="228512"/>
          </a:xfrm>
          <a:prstGeom prst="rect">
            <a:avLst/>
          </a:prstGeom>
          <a:ln w="12700">
            <a:miter lim="400000"/>
          </a:ln>
        </p:spPr>
        <p:txBody>
          <a:bodyPr wrap="none" lIns="45719" rIns="45719" anchor="ctr">
            <a:spAutoFit/>
          </a:bodyPr>
          <a:lstStyle>
            <a:lvl1pPr algn="r">
              <a:defRPr sz="10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1pPr>
      <a:lvl2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2pPr>
      <a:lvl3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3pPr>
      <a:lvl4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4pPr>
      <a:lvl5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5pPr>
      <a:lvl6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6pPr>
      <a:lvl7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7pPr>
      <a:lvl8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8pPr>
      <a:lvl9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9pPr>
    </p:titleStyle>
    <p:bodyStyle>
      <a:lvl1pPr marL="91439" marR="0" indent="-91439" algn="l" defTabSz="914400" rtl="0" latinLnBrk="0">
        <a:lnSpc>
          <a:spcPct val="90000"/>
        </a:lnSpc>
        <a:spcBef>
          <a:spcPts val="1200"/>
        </a:spcBef>
        <a:spcAft>
          <a:spcPts val="0"/>
        </a:spcAft>
        <a:buClr>
          <a:schemeClr val="accent1"/>
        </a:buClr>
        <a:buSzPct val="100000"/>
        <a:buFont typeface="Calibri"/>
        <a:buChar char=" "/>
        <a:tabLst/>
        <a:defRPr b="0" baseline="0" cap="none" i="0" spc="0" strike="noStrike" sz="2000" u="none">
          <a:solidFill>
            <a:srgbClr val="404040"/>
          </a:solidFill>
          <a:uFillTx/>
          <a:latin typeface="+mj-lt"/>
          <a:ea typeface="+mj-ea"/>
          <a:cs typeface="+mj-cs"/>
          <a:sym typeface="Calibri"/>
        </a:defRPr>
      </a:lvl1pPr>
      <a:lvl2pPr marL="404368" marR="0" indent="-203200"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2pPr>
      <a:lvl3pPr marL="64530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3pPr>
      <a:lvl4pPr marL="82818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4pPr>
      <a:lvl5pPr marL="1011065"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5pPr>
      <a:lvl6pPr marL="11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6pPr>
      <a:lvl7pPr marL="13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7pPr>
      <a:lvl8pPr marL="15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8pPr>
      <a:lvl9pPr marL="179797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Title 1"/>
          <p:cNvSpPr txBox="1"/>
          <p:nvPr>
            <p:ph type="title" idx="4294967295"/>
          </p:nvPr>
        </p:nvSpPr>
        <p:spPr>
          <a:xfrm>
            <a:off x="-1" y="69849"/>
            <a:ext cx="12085165" cy="1249903"/>
          </a:xfrm>
          <a:prstGeom prst="rect">
            <a:avLst/>
          </a:prstGeom>
        </p:spPr>
        <p:txBody>
          <a:bodyPr/>
          <a:lstStyle>
            <a:lvl1pPr algn="ctr">
              <a:defRPr spc="-100" sz="5400"/>
            </a:lvl1pPr>
          </a:lstStyle>
          <a:p>
            <a:pPr/>
            <a:r>
              <a:t>AI-First Q2 2026 Hackathon</a:t>
            </a:r>
          </a:p>
        </p:txBody>
      </p:sp>
      <p:sp>
        <p:nvSpPr>
          <p:cNvPr id="110"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11"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12" name="TextBox 5"/>
          <p:cNvSpPr txBox="1"/>
          <p:nvPr/>
        </p:nvSpPr>
        <p:spPr>
          <a:xfrm>
            <a:off x="4451657" y="2142013"/>
            <a:ext cx="4178903" cy="9172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gn="ctr">
              <a:buSzPct val="100000"/>
              <a:buAutoNum type="arabicPeriod" startAt="1"/>
            </a:pPr>
            <a:r>
              <a:t>AI Code Review Bot</a:t>
            </a:r>
          </a:p>
          <a:p>
            <a:pPr marL="342900" indent="-342900" algn="ctr">
              <a:buSzPct val="100000"/>
              <a:buAutoNum type="arabicPeriod" startAt="1"/>
            </a:pPr>
            <a:r>
              <a:t>Rachit Mathur (VIPL001235)</a:t>
            </a:r>
          </a:p>
          <a:p>
            <a:pPr marL="342900" indent="-342900" algn="ctr">
              <a:buSzPct val="100000"/>
              <a:buAutoNum type="arabicPeriod" startAt="1"/>
            </a:pPr>
            <a:r>
              <a:t>29/06/2026</a:t>
            </a:r>
          </a:p>
        </p:txBody>
      </p:sp>
      <p:sp>
        <p:nvSpPr>
          <p:cNvPr id="113" name="TextBox 7"/>
          <p:cNvSpPr txBox="1"/>
          <p:nvPr/>
        </p:nvSpPr>
        <p:spPr>
          <a:xfrm>
            <a:off x="47291"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1"/>
          <p:cNvSpPr txBox="1"/>
          <p:nvPr>
            <p:ph type="title" idx="4294967295"/>
          </p:nvPr>
        </p:nvSpPr>
        <p:spPr>
          <a:xfrm>
            <a:off x="-1" y="69850"/>
            <a:ext cx="12028604" cy="1092200"/>
          </a:xfrm>
          <a:prstGeom prst="rect">
            <a:avLst/>
          </a:prstGeom>
        </p:spPr>
        <p:txBody>
          <a:bodyPr/>
          <a:lstStyle>
            <a:lvl1pPr algn="ctr">
              <a:defRPr spc="-100" sz="2800"/>
            </a:lvl1pPr>
          </a:lstStyle>
          <a:p>
            <a:pPr/>
            <a:r>
              <a:t>Table of Contents</a:t>
            </a:r>
          </a:p>
        </p:txBody>
      </p:sp>
      <p:sp>
        <p:nvSpPr>
          <p:cNvPr id="116"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17"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18" name="TextBox 4"/>
          <p:cNvSpPr txBox="1"/>
          <p:nvPr/>
        </p:nvSpPr>
        <p:spPr>
          <a:xfrm>
            <a:off x="47291"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19" name="TextBox 5"/>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20" name="TextBox 6"/>
          <p:cNvSpPr txBox="1"/>
          <p:nvPr/>
        </p:nvSpPr>
        <p:spPr>
          <a:xfrm>
            <a:off x="608253" y="1856568"/>
            <a:ext cx="7770516" cy="2586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AutoNum type="arabicPeriod" startAt="1"/>
              <a:defRPr sz="1600"/>
            </a:pPr>
            <a:r>
              <a:t>Problem Statement/ Business Use case </a:t>
            </a:r>
          </a:p>
          <a:p>
            <a:pPr marL="342900" indent="-342900">
              <a:buSzPct val="100000"/>
              <a:buAutoNum type="arabicPeriod" startAt="1"/>
              <a:defRPr sz="1600"/>
            </a:pPr>
            <a:r>
              <a:t>Business Value </a:t>
            </a:r>
          </a:p>
          <a:p>
            <a:pPr marL="342900" indent="-342900">
              <a:buSzPct val="100000"/>
              <a:buAutoNum type="arabicPeriod" startAt="1"/>
              <a:defRPr sz="1600"/>
            </a:pPr>
            <a:r>
              <a:t>Feature List - highlight the innovation using AI</a:t>
            </a:r>
          </a:p>
          <a:p>
            <a:pPr marL="342900" indent="-342900">
              <a:buSzPct val="100000"/>
              <a:buAutoNum type="arabicPeriod" startAt="1"/>
              <a:defRPr sz="1600"/>
            </a:pPr>
            <a:r>
              <a:t>Technology Used </a:t>
            </a:r>
          </a:p>
          <a:p>
            <a:pPr marL="342900" indent="-342900">
              <a:buSzPct val="100000"/>
              <a:buAutoNum type="arabicPeriod" startAt="1"/>
              <a:defRPr sz="1600"/>
            </a:pPr>
            <a:r>
              <a:t>AI agent / RAG / workflow automation explained</a:t>
            </a:r>
          </a:p>
          <a:p>
            <a:pPr marL="342900" indent="-342900">
              <a:buSzPct val="100000"/>
              <a:buAutoNum type="arabicPeriod" startAt="1"/>
              <a:defRPr sz="1600"/>
            </a:pPr>
            <a:r>
              <a:t>AI model / API / framework used</a:t>
            </a:r>
          </a:p>
          <a:p>
            <a:pPr marL="342900" indent="-342900">
              <a:buSzPct val="100000"/>
              <a:buAutoNum type="arabicPeriod" startAt="1"/>
              <a:defRPr sz="1600"/>
            </a:pPr>
            <a:r>
              <a:t>Time Taken to develop the solution</a:t>
            </a:r>
          </a:p>
          <a:p>
            <a:pPr marL="342900" indent="-342900">
              <a:buSzPct val="100000"/>
              <a:buAutoNum type="arabicPeriod" startAt="1"/>
              <a:defRPr sz="1600"/>
            </a:pPr>
            <a:r>
              <a:t>Percentage of AI and Manual Effort</a:t>
            </a:r>
          </a:p>
          <a:p>
            <a:pPr marL="342900" indent="-342900">
              <a:buSzPct val="100000"/>
              <a:buAutoNum type="arabicPeriod" startAt="1"/>
              <a:defRPr sz="1600"/>
            </a:pPr>
            <a:r>
              <a:t>Screenshots (code and output)</a:t>
            </a:r>
          </a:p>
          <a:p>
            <a:pPr marL="342900" indent="-342900">
              <a:buSzPct val="100000"/>
              <a:buAutoNum type="arabicPeriod" startAt="1"/>
              <a:defRPr sz="1600"/>
            </a:pPr>
            <a:r>
              <a:t>GIT HUB URL</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itle 1"/>
          <p:cNvSpPr txBox="1"/>
          <p:nvPr>
            <p:ph type="title" idx="4294967295"/>
          </p:nvPr>
        </p:nvSpPr>
        <p:spPr>
          <a:xfrm>
            <a:off x="0" y="69850"/>
            <a:ext cx="10144125" cy="1092200"/>
          </a:xfrm>
          <a:prstGeom prst="rect">
            <a:avLst/>
          </a:prstGeom>
        </p:spPr>
        <p:txBody>
          <a:bodyPr/>
          <a:lstStyle>
            <a:lvl1pPr algn="ctr">
              <a:defRPr spc="-100" sz="2400"/>
            </a:lvl1pPr>
          </a:lstStyle>
          <a:p>
            <a:pPr/>
            <a:r>
              <a:t>Problem Statement/ Business Use case  </a:t>
            </a:r>
          </a:p>
        </p:txBody>
      </p:sp>
      <p:sp>
        <p:nvSpPr>
          <p:cNvPr id="123"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24"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25" name="TextBox 4"/>
          <p:cNvSpPr txBox="1"/>
          <p:nvPr/>
        </p:nvSpPr>
        <p:spPr>
          <a:xfrm>
            <a:off x="45719" y="641881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26" name="Every engineering team has the same bottleneck: senior engineers are the scarcest resource, and code review is where they spend a disproportionate amount of that time — much of it catching the same class of bugs repeatedly.…"/>
          <p:cNvSpPr txBox="1"/>
          <p:nvPr/>
        </p:nvSpPr>
        <p:spPr>
          <a:xfrm>
            <a:off x="921439" y="1877044"/>
            <a:ext cx="10144126" cy="20352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80473" indent="-180473">
              <a:lnSpc>
                <a:spcPct val="120000"/>
              </a:lnSpc>
              <a:buSzPct val="100000"/>
              <a:buChar char="•"/>
            </a:pPr>
            <a:r>
              <a:t>Every engineering team has the same bottleneck: senior engineers are the scarcest resource, and code review is where they spend a disproportionate amount of that time — much of it catching the same class of bugs repeatedly.</a:t>
            </a:r>
          </a:p>
          <a:p>
            <a:pPr marL="180473" indent="-180473">
              <a:lnSpc>
                <a:spcPct val="120000"/>
              </a:lnSpc>
              <a:buSzPct val="100000"/>
              <a:buChar char="•"/>
            </a:pPr>
          </a:p>
          <a:p>
            <a:pPr marL="180473" indent="-180473">
              <a:lnSpc>
                <a:spcPct val="120000"/>
              </a:lnSpc>
              <a:buSzPct val="100000"/>
              <a:buChar char="•"/>
            </a:pPr>
            <a:r>
              <a:t>If a senior engineer at any product firm spends 30–40% of their time on code reviews, that’s a lot of senior engineering time per person — mostly pattern-matching against known failure modes.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itle 1"/>
          <p:cNvSpPr txBox="1"/>
          <p:nvPr>
            <p:ph type="title" idx="4294967295"/>
          </p:nvPr>
        </p:nvSpPr>
        <p:spPr>
          <a:xfrm>
            <a:off x="-1" y="69850"/>
            <a:ext cx="10142540" cy="1092200"/>
          </a:xfrm>
          <a:prstGeom prst="rect">
            <a:avLst/>
          </a:prstGeom>
        </p:spPr>
        <p:txBody>
          <a:bodyPr/>
          <a:lstStyle>
            <a:lvl1pPr algn="ctr">
              <a:defRPr spc="-100" sz="2400"/>
            </a:lvl1pPr>
          </a:lstStyle>
          <a:p>
            <a:pPr/>
            <a:r>
              <a:t>Business value </a:t>
            </a:r>
          </a:p>
        </p:txBody>
      </p:sp>
      <p:sp>
        <p:nvSpPr>
          <p:cNvPr id="129"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30"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31" name="TextBox 4"/>
          <p:cNvSpPr txBox="1"/>
          <p:nvPr/>
        </p:nvSpPr>
        <p:spPr>
          <a:xfrm>
            <a:off x="47291"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32" name="1. Cost reduction in engineering time…"/>
          <p:cNvSpPr txBox="1"/>
          <p:nvPr/>
        </p:nvSpPr>
        <p:spPr>
          <a:xfrm>
            <a:off x="812322" y="1179574"/>
            <a:ext cx="10567355" cy="506439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20000"/>
              </a:lnSpc>
              <a:defRPr sz="1500"/>
            </a:pPr>
            <a:r>
              <a:t>1. Cost reduction in engineering time</a:t>
            </a:r>
          </a:p>
          <a:p>
            <a:pPr>
              <a:lnSpc>
                <a:spcPct val="120000"/>
              </a:lnSpc>
              <a:defRPr sz="1500"/>
            </a:pPr>
            <a:r>
              <a:t>The bot handles the first-pass review automatically. Senior engineers sengage only when there’s actual design-level thinking required. At a team of 10 engineers, recovering even 2 hours/week per senior = hundreds of hours/year redirected to feature work.</a:t>
            </a:r>
          </a:p>
          <a:p>
            <a:pPr>
              <a:lnSpc>
                <a:spcPct val="120000"/>
              </a:lnSpc>
              <a:defRPr sz="1500"/>
            </a:pPr>
            <a:r>
              <a:t>2. Reduced production incidents</a:t>
            </a:r>
          </a:p>
          <a:p>
            <a:pPr>
              <a:lnSpc>
                <a:spcPct val="120000"/>
              </a:lnSpc>
              <a:defRPr sz="1500"/>
            </a:pPr>
            <a:r>
              <a:t>The bugs this bot catches are precisely the bugs that cause P0 incidents. A single payment double-charge incident costs far more than the engineering time to build this tool:</a:t>
            </a:r>
          </a:p>
          <a:p>
            <a:pPr>
              <a:lnSpc>
                <a:spcPct val="120000"/>
              </a:lnSpc>
              <a:defRPr sz="1500"/>
            </a:pPr>
            <a:r>
              <a:t>	∙	Customer remediation</a:t>
            </a:r>
          </a:p>
          <a:p>
            <a:pPr>
              <a:lnSpc>
                <a:spcPct val="120000"/>
              </a:lnSpc>
              <a:defRPr sz="1500"/>
            </a:pPr>
            <a:r>
              <a:t>	∙	Regulatory scrutiny (especially in payments)</a:t>
            </a:r>
          </a:p>
          <a:p>
            <a:pPr>
              <a:lnSpc>
                <a:spcPct val="120000"/>
              </a:lnSpc>
              <a:defRPr sz="1500"/>
            </a:pPr>
            <a:r>
              <a:t>	∙	Reputational damage</a:t>
            </a:r>
          </a:p>
          <a:p>
            <a:pPr>
              <a:lnSpc>
                <a:spcPct val="120000"/>
              </a:lnSpc>
              <a:defRPr sz="1500"/>
            </a:pPr>
            <a:r>
              <a:t>	∙	On-call engineer time at 2am</a:t>
            </a:r>
          </a:p>
          <a:p>
            <a:pPr>
              <a:lnSpc>
                <a:spcPct val="120000"/>
              </a:lnSpc>
              <a:defRPr sz="1500"/>
            </a:pPr>
            <a:r>
              <a:t>3. Faster PR cycle time</a:t>
            </a:r>
          </a:p>
          <a:p>
            <a:pPr>
              <a:lnSpc>
                <a:spcPct val="120000"/>
              </a:lnSpc>
              <a:defRPr sz="1500"/>
            </a:pPr>
            <a:r>
              <a:t>Review turnaround goes from hours/days (waiting for a senior to be free) to seconds. Junior engineers get immediate, specific feedback without feeling judged. PRs merge faster. Features ship faster. This compounds across every sprint.</a:t>
            </a:r>
          </a:p>
          <a:p>
            <a:pPr>
              <a:lnSpc>
                <a:spcPct val="120000"/>
              </a:lnSpc>
              <a:defRPr sz="1500"/>
            </a:pPr>
            <a:r>
              <a:t>4. Consistent enforcement of standards</a:t>
            </a:r>
          </a:p>
          <a:p>
            <a:pPr>
              <a:lnSpc>
                <a:spcPct val="120000"/>
              </a:lnSpc>
              <a:defRPr sz="1500"/>
            </a:pPr>
            <a:r>
              <a:t>The bot applies the same standard to every PR, every time. This matters especially in regulated industries (payments, banking) where audit trails and code quality standards are compliance requirements, not just good practice.</a:t>
            </a:r>
          </a:p>
          <a:p>
            <a:pPr>
              <a:lnSpc>
                <a:spcPct val="120000"/>
              </a:lnSpc>
              <a:defRPr sz="1500"/>
            </a:pPr>
            <a:r>
              <a:t>5. Junior engineer upskilling</a:t>
            </a:r>
          </a:p>
          <a:p>
            <a:pPr>
              <a:lnSpc>
                <a:spcPct val="120000"/>
              </a:lnSpc>
              <a:defRPr sz="1500"/>
            </a:pPr>
            <a:r>
              <a:t>The bot doesn’t just flag issues — it explains the production impact and gives a concrete fix. Training cost goes down over time as the team internalizes patterns.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itle 1"/>
          <p:cNvSpPr txBox="1"/>
          <p:nvPr>
            <p:ph type="title" idx="4294967295"/>
          </p:nvPr>
        </p:nvSpPr>
        <p:spPr>
          <a:xfrm>
            <a:off x="-1" y="69850"/>
            <a:ext cx="10142540" cy="1092200"/>
          </a:xfrm>
          <a:prstGeom prst="rect">
            <a:avLst/>
          </a:prstGeom>
        </p:spPr>
        <p:txBody>
          <a:bodyPr/>
          <a:lstStyle>
            <a:lvl1pPr algn="ctr">
              <a:defRPr spc="-100" sz="2400"/>
            </a:lvl1pPr>
          </a:lstStyle>
          <a:p>
            <a:pPr/>
            <a:r>
              <a:t>Feature List - highlight the innovation using AI</a:t>
            </a:r>
          </a:p>
        </p:txBody>
      </p:sp>
      <p:sp>
        <p:nvSpPr>
          <p:cNvPr id="135"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36"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37" name="TextBox 4"/>
          <p:cNvSpPr txBox="1"/>
          <p:nvPr/>
        </p:nvSpPr>
        <p:spPr>
          <a:xfrm>
            <a:off x="47291"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38" name="∙ HMAC-SHA256 webhook signature validation with constant-time comparison…"/>
          <p:cNvSpPr txBox="1"/>
          <p:nvPr/>
        </p:nvSpPr>
        <p:spPr>
          <a:xfrm>
            <a:off x="771644" y="1750768"/>
            <a:ext cx="10285572" cy="352778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50000"/>
              </a:lnSpc>
              <a:defRPr sz="1600"/>
            </a:pPr>
            <a:r>
              <a:t>	∙	HMAC-SHA256 webhook signature validation with constant-time comparison</a:t>
            </a:r>
          </a:p>
          <a:p>
            <a:pPr>
              <a:lnSpc>
                <a:spcPct val="150000"/>
              </a:lnSpc>
              <a:defRPr sz="1600"/>
            </a:pPr>
            <a:r>
              <a:t>	∙	Async processing via CompletableFuture — responds 202 before AI call starts</a:t>
            </a:r>
          </a:p>
          <a:p>
            <a:pPr>
              <a:lnSpc>
                <a:spcPct val="150000"/>
              </a:lnSpc>
              <a:defRPr sz="1600"/>
            </a:pPr>
            <a:r>
              <a:t>	∙	Smart diff parsing — filters noise, classifies backend vs frontend files</a:t>
            </a:r>
          </a:p>
          <a:p>
            <a:pPr>
              <a:lnSpc>
                <a:spcPct val="150000"/>
              </a:lnSpc>
              <a:defRPr sz="1600"/>
            </a:pPr>
            <a:r>
              <a:t>	∙	GPT-4o powered review catching N+1 queries, missing idempotency, no timeouts, race conditions and PII logging</a:t>
            </a:r>
          </a:p>
          <a:p>
            <a:pPr>
              <a:lnSpc>
                <a:spcPct val="150000"/>
              </a:lnSpc>
              <a:defRPr sz="1600"/>
            </a:pPr>
            <a:r>
              <a:t>	∙	Agent mode — two-pass reasoning for cross-file interaction bugs</a:t>
            </a:r>
          </a:p>
          <a:p>
            <a:pPr>
              <a:lnSpc>
                <a:spcPct val="150000"/>
              </a:lnSpc>
              <a:defRPr sz="1600"/>
            </a:pPr>
            <a:r>
              <a:t>	∙	Posts structured inline GitHub comments with issue, impact &amp; fix</a:t>
            </a:r>
          </a:p>
          <a:p>
            <a:pPr>
              <a:lnSpc>
                <a:spcPct val="150000"/>
              </a:lnSpc>
              <a:defRPr sz="1600"/>
            </a:pPr>
            <a:r>
              <a:t>	∙	REST API (/api/reviews, /api/stats) ready for dashboard integration</a:t>
            </a:r>
          </a:p>
          <a:p>
            <a:pPr>
              <a:lnSpc>
                <a:spcPct val="150000"/>
              </a:lnSpc>
              <a:defRPr sz="1600"/>
            </a:pPr>
            <a:r>
              <a:t>	∙	Fails open — bot errors never block a PR</a:t>
            </a:r>
          </a:p>
          <a:p>
            <a:pPr>
              <a:lnSpc>
                <a:spcPct val="150000"/>
              </a:lnSpc>
              <a:defRPr sz="1600"/>
            </a:pPr>
            <a:r>
              <a:t>	∙	Fully configurable via YAML — model, thresholds, skip rules, agent toggle</a:t>
            </a:r>
          </a:p>
          <a:p>
            <a:pPr>
              <a:lnSpc>
                <a:spcPct val="150000"/>
              </a:lnSpc>
              <a:defRPr sz="1600"/>
            </a:pPr>
            <a:r>
              <a:t>	∙	Frontend review built-in — activate by removing extensions from skip list​​​​​​​​​​​​​​​​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itle 1"/>
          <p:cNvSpPr txBox="1"/>
          <p:nvPr>
            <p:ph type="title" idx="4294967295"/>
          </p:nvPr>
        </p:nvSpPr>
        <p:spPr>
          <a:xfrm>
            <a:off x="0" y="69850"/>
            <a:ext cx="10144125" cy="1092200"/>
          </a:xfrm>
          <a:prstGeom prst="rect">
            <a:avLst/>
          </a:prstGeom>
        </p:spPr>
        <p:txBody>
          <a:bodyPr/>
          <a:lstStyle>
            <a:lvl1pPr algn="ctr">
              <a:defRPr spc="-100" sz="2400"/>
            </a:lvl1pPr>
          </a:lstStyle>
          <a:p>
            <a:pPr/>
            <a:r>
              <a:t>Technology Used</a:t>
            </a:r>
          </a:p>
        </p:txBody>
      </p:sp>
      <p:sp>
        <p:nvSpPr>
          <p:cNvPr id="141"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42"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43" name="TextBox 4"/>
          <p:cNvSpPr txBox="1"/>
          <p:nvPr/>
        </p:nvSpPr>
        <p:spPr>
          <a:xfrm>
            <a:off x="47291"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44" name="∙ Java 17 — Core language…"/>
          <p:cNvSpPr txBox="1"/>
          <p:nvPr/>
        </p:nvSpPr>
        <p:spPr>
          <a:xfrm>
            <a:off x="1794440" y="1503719"/>
            <a:ext cx="6555245" cy="385056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20000"/>
              </a:lnSpc>
              <a:defRPr sz="1600"/>
            </a:pPr>
            <a:r>
              <a:t>	∙	Java 17 — Core language</a:t>
            </a:r>
          </a:p>
          <a:p>
            <a:pPr>
              <a:lnSpc>
                <a:spcPct val="120000"/>
              </a:lnSpc>
              <a:defRPr sz="1600"/>
            </a:pPr>
            <a:r>
              <a:t>	∙	Spring Boot 3.2 — Web framework, dependency injection, actuator</a:t>
            </a:r>
          </a:p>
          <a:p>
            <a:pPr>
              <a:lnSpc>
                <a:spcPct val="120000"/>
              </a:lnSpc>
              <a:defRPr sz="1600"/>
            </a:pPr>
            <a:r>
              <a:t>	∙	OpenAI GPT-4o — AI code review engine</a:t>
            </a:r>
          </a:p>
          <a:p>
            <a:pPr>
              <a:lnSpc>
                <a:spcPct val="120000"/>
              </a:lnSpc>
              <a:defRPr sz="1600"/>
            </a:pPr>
            <a:r>
              <a:t>	∙	GitHub Webhooks API — PR event ingestion</a:t>
            </a:r>
          </a:p>
          <a:p>
            <a:pPr>
              <a:lnSpc>
                <a:spcPct val="120000"/>
              </a:lnSpc>
              <a:defRPr sz="1600"/>
            </a:pPr>
            <a:r>
              <a:t>	∙	kohsuke/github-api — GitHub client library</a:t>
            </a:r>
          </a:p>
          <a:p>
            <a:pPr>
              <a:lnSpc>
                <a:spcPct val="120000"/>
              </a:lnSpc>
              <a:defRPr sz="1600"/>
            </a:pPr>
            <a:r>
              <a:t>	∙	HMAC-SHA256 — Webhook signature validation</a:t>
            </a:r>
          </a:p>
          <a:p>
            <a:pPr>
              <a:lnSpc>
                <a:spcPct val="120000"/>
              </a:lnSpc>
              <a:defRPr sz="1600"/>
            </a:pPr>
            <a:r>
              <a:t>	∙	CompletableFuture — Async processing</a:t>
            </a:r>
          </a:p>
          <a:p>
            <a:pPr>
              <a:lnSpc>
                <a:spcPct val="120000"/>
              </a:lnSpc>
              <a:defRPr sz="1600"/>
            </a:pPr>
            <a:r>
              <a:t>	∙	ConcurrentLinkedDeque — Thread-safe in-memory store</a:t>
            </a:r>
          </a:p>
          <a:p>
            <a:pPr>
              <a:lnSpc>
                <a:spcPct val="120000"/>
              </a:lnSpc>
              <a:defRPr sz="1600"/>
            </a:pPr>
            <a:r>
              <a:t>	∙	RestTemplate — OpenAI HTTP client</a:t>
            </a:r>
          </a:p>
          <a:p>
            <a:pPr>
              <a:lnSpc>
                <a:spcPct val="120000"/>
              </a:lnSpc>
              <a:defRPr sz="1600"/>
            </a:pPr>
            <a:r>
              <a:t>	∙	Maven — Build &amp; dependency management</a:t>
            </a:r>
          </a:p>
          <a:p>
            <a:pPr>
              <a:lnSpc>
                <a:spcPct val="120000"/>
              </a:lnSpc>
              <a:defRPr sz="1600"/>
            </a:pPr>
            <a:r>
              <a:t>	∙	YAML — Externalized configuration</a:t>
            </a:r>
          </a:p>
          <a:p>
            <a:pPr>
              <a:lnSpc>
                <a:spcPct val="120000"/>
              </a:lnSpc>
              <a:defRPr sz="1600"/>
            </a:pPr>
            <a:r>
              <a:t>	∙	ngrok — Local tunnel for webhook testing</a:t>
            </a:r>
          </a:p>
          <a:p>
            <a:pPr>
              <a:lnSpc>
                <a:spcPct val="120000"/>
              </a:lnSpc>
              <a:defRPr sz="1600"/>
            </a:pPr>
            <a:r>
              <a:t>	∙	JUnit 5 + Mockito — Unit testing​​​​​​​​​​​​​​​​</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itle 1"/>
          <p:cNvSpPr txBox="1"/>
          <p:nvPr>
            <p:ph type="title" idx="4294967295"/>
          </p:nvPr>
        </p:nvSpPr>
        <p:spPr>
          <a:xfrm>
            <a:off x="0" y="69850"/>
            <a:ext cx="10144125" cy="1092200"/>
          </a:xfrm>
          <a:prstGeom prst="rect">
            <a:avLst/>
          </a:prstGeom>
        </p:spPr>
        <p:txBody>
          <a:bodyPr/>
          <a:lstStyle>
            <a:lvl1pPr algn="ctr">
              <a:defRPr spc="-100" sz="2400"/>
            </a:lvl1pPr>
          </a:lstStyle>
          <a:p>
            <a:pPr/>
            <a:r>
              <a:t>AI agent / RAG / workflow automation explanation</a:t>
            </a:r>
          </a:p>
        </p:txBody>
      </p:sp>
      <p:sp>
        <p:nvSpPr>
          <p:cNvPr id="147"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48"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49" name="TextBox 5"/>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50" name="GitHub PR Event…"/>
          <p:cNvSpPr txBox="1"/>
          <p:nvPr/>
        </p:nvSpPr>
        <p:spPr>
          <a:xfrm>
            <a:off x="1944046" y="1259015"/>
            <a:ext cx="6118322" cy="49220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300"/>
            </a:pPr>
            <a:r>
              <a:t>GitHub PR Event</a:t>
            </a:r>
          </a:p>
          <a:p>
            <a:pPr>
              <a:defRPr sz="1300"/>
            </a:pPr>
            <a:r>
              <a:t>       │</a:t>
            </a:r>
          </a:p>
          <a:p>
            <a:pPr>
              <a:defRPr sz="1300"/>
            </a:pPr>
            <a:r>
              <a:t>      ▼</a:t>
            </a:r>
          </a:p>
          <a:p>
            <a:pPr>
              <a:defRPr sz="1300"/>
            </a:pPr>
            <a:r>
              <a:t>WebhookController        ← validates HMAC-SHA256 signature, returns 202 immediately</a:t>
            </a:r>
          </a:p>
          <a:p>
            <a:pPr>
              <a:defRPr sz="1300"/>
            </a:pPr>
            <a:r>
              <a:t>       │ async</a:t>
            </a:r>
          </a:p>
          <a:p>
            <a:pPr>
              <a:defRPr sz="1300"/>
            </a:pPr>
            <a:r>
              <a:t>      ▼</a:t>
            </a:r>
          </a:p>
          <a:p>
            <a:pPr>
              <a:defRPr sz="1300"/>
            </a:pPr>
            <a:r>
              <a:t>PullRequestHandler       ← orchestrates the pipeline</a:t>
            </a:r>
          </a:p>
          <a:p>
            <a:pPr>
              <a:defRPr sz="1300"/>
            </a:pPr>
            <a:r>
              <a:t>       │</a:t>
            </a:r>
          </a:p>
          <a:p>
            <a:pPr>
              <a:defRPr sz="1300"/>
            </a:pPr>
            <a:r>
              <a:t>      ├ ► DiffParser     ← filters noise, classifies files (backend/frontend)</a:t>
            </a:r>
          </a:p>
          <a:p>
            <a:pPr>
              <a:defRPr sz="1300"/>
            </a:pPr>
            <a:r>
              <a:t>       │</a:t>
            </a:r>
          </a:p>
          <a:p>
            <a:pPr>
              <a:defRPr sz="1300"/>
            </a:pPr>
            <a:r>
              <a:t>      ├► ReviewStrategyFactory</a:t>
            </a:r>
          </a:p>
          <a:p>
            <a:pPr>
              <a:defRPr sz="1300"/>
            </a:pPr>
            <a:r>
              <a:t>       │       ├  STANDARD  → single OpenAI call (default)</a:t>
            </a:r>
          </a:p>
          <a:p>
            <a:pPr>
              <a:defRPr sz="1300"/>
            </a:pPr>
            <a:r>
              <a:t>       │        └─ AGENT         → two-pass reasoning (bot.review.agent-mode-enabled=true)</a:t>
            </a:r>
          </a:p>
          <a:p>
            <a:pPr>
              <a:defRPr sz="1300"/>
            </a:pPr>
            <a:r>
              <a:t>       │</a:t>
            </a:r>
          </a:p>
          <a:p>
            <a:pPr>
              <a:defRPr sz="1300"/>
            </a:pPr>
            <a:r>
              <a:t>      ├► OpenAiClient   ← calls GPT-4o with domain-specific system prompt</a:t>
            </a:r>
          </a:p>
          <a:p>
            <a:pPr>
              <a:defRPr sz="1300"/>
            </a:pPr>
            <a:r>
              <a:t>       │</a:t>
            </a:r>
          </a:p>
          <a:p>
            <a:pPr>
              <a:defRPr sz="1300"/>
            </a:pPr>
            <a:r>
              <a:t>      ├► ReviewCommenter ← posts review + individual issue comments to GitHub</a:t>
            </a:r>
          </a:p>
          <a:p>
            <a:pPr>
              <a:defRPr sz="1300"/>
            </a:pPr>
            <a:r>
              <a:t>       │</a:t>
            </a:r>
          </a:p>
          <a:p>
            <a:pPr>
              <a:defRPr sz="1300"/>
            </a:pPr>
            <a:r>
              <a:t>       └─► ReviewStore    ← ConcurrentLinkedDeque in-memory audit log</a:t>
            </a:r>
          </a:p>
          <a:p>
            <a:pPr>
              <a:defRPr sz="1300"/>
            </a:pPr>
            <a:r>
              <a:t>                │</a:t>
            </a:r>
          </a:p>
          <a:p>
            <a:pPr>
              <a:defRPr sz="1300"/>
            </a:pPr>
            <a:r>
              <a:t>                └─► GET /api/reviews  ← consumed by React dashboard (future)</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idx="4294967295"/>
          </p:nvPr>
        </p:nvSpPr>
        <p:spPr>
          <a:xfrm>
            <a:off x="0" y="69850"/>
            <a:ext cx="10144125" cy="1092200"/>
          </a:xfrm>
          <a:prstGeom prst="rect">
            <a:avLst/>
          </a:prstGeom>
        </p:spPr>
        <p:txBody>
          <a:bodyPr/>
          <a:lstStyle>
            <a:lvl1pPr algn="ctr">
              <a:defRPr spc="-100" sz="2400"/>
            </a:lvl1pPr>
          </a:lstStyle>
          <a:p>
            <a:pPr/>
            <a:r>
              <a:t>AI model / API / framework used</a:t>
            </a:r>
          </a:p>
        </p:txBody>
      </p:sp>
      <p:sp>
        <p:nvSpPr>
          <p:cNvPr id="153"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54"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55"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56" name="∙ OpenAI GPT-4o — code review model…"/>
          <p:cNvSpPr txBox="1"/>
          <p:nvPr/>
        </p:nvSpPr>
        <p:spPr>
          <a:xfrm>
            <a:off x="1479718" y="1585444"/>
            <a:ext cx="7184689" cy="316920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50000"/>
              </a:lnSpc>
              <a:defRPr sz="1600"/>
            </a:pPr>
            <a:r>
              <a:t>	∙	OpenAI GPT-4o — code review model</a:t>
            </a:r>
          </a:p>
          <a:p>
            <a:pPr>
              <a:lnSpc>
                <a:spcPct val="150000"/>
              </a:lnSpc>
              <a:defRPr sz="1600"/>
            </a:pPr>
            <a:r>
              <a:t>	∙	OpenAI Chat Completions API (/v1/chat/completions)</a:t>
            </a:r>
          </a:p>
          <a:p>
            <a:pPr>
              <a:lnSpc>
                <a:spcPct val="150000"/>
              </a:lnSpc>
              <a:defRPr sz="1600"/>
            </a:pPr>
            <a:r>
              <a:t>	∙	JSON mode enforced for structured output (response_format: json_object)</a:t>
            </a:r>
          </a:p>
          <a:p>
            <a:pPr>
              <a:lnSpc>
                <a:spcPct val="150000"/>
              </a:lnSpc>
              <a:defRPr sz="1600"/>
            </a:pPr>
            <a:r>
              <a:t>	∙	Spring Boot 3.2 — application framework</a:t>
            </a:r>
          </a:p>
          <a:p>
            <a:pPr>
              <a:lnSpc>
                <a:spcPct val="150000"/>
              </a:lnSpc>
              <a:defRPr sz="1600"/>
            </a:pPr>
            <a:r>
              <a:t>	∙	Spring Web MVC — REST endpoints and webhook receiver</a:t>
            </a:r>
          </a:p>
          <a:p>
            <a:pPr>
              <a:lnSpc>
                <a:spcPct val="150000"/>
              </a:lnSpc>
              <a:defRPr sz="1600"/>
            </a:pPr>
            <a:r>
              <a:t>	∙	Spring Actuator — health and metrics</a:t>
            </a:r>
          </a:p>
          <a:p>
            <a:pPr>
              <a:lnSpc>
                <a:spcPct val="150000"/>
              </a:lnSpc>
              <a:defRPr sz="1600"/>
            </a:pPr>
            <a:r>
              <a:t>	∙	kohsuke GitHub API — GitHub client</a:t>
            </a:r>
          </a:p>
          <a:p>
            <a:pPr>
              <a:lnSpc>
                <a:spcPct val="150000"/>
              </a:lnSpc>
              <a:defRPr sz="1600"/>
            </a:pPr>
            <a:r>
              <a:t>	∙	JUnit 5 + Mockito — testing framework</a:t>
            </a:r>
          </a:p>
          <a:p>
            <a:pPr>
              <a:lnSpc>
                <a:spcPct val="150000"/>
              </a:lnSpc>
              <a:defRPr sz="1600"/>
            </a:pPr>
            <a:r>
              <a:t>	∙	Maven — build and dependency management​​​​​​​​​​​​​​​​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1"/>
          <p:cNvSpPr txBox="1"/>
          <p:nvPr>
            <p:ph type="title" idx="4294967295"/>
          </p:nvPr>
        </p:nvSpPr>
        <p:spPr>
          <a:xfrm>
            <a:off x="0" y="69850"/>
            <a:ext cx="10144125" cy="1092200"/>
          </a:xfrm>
          <a:prstGeom prst="rect">
            <a:avLst/>
          </a:prstGeom>
        </p:spPr>
        <p:txBody>
          <a:bodyPr/>
          <a:lstStyle>
            <a:lvl1pPr algn="ctr">
              <a:defRPr spc="-100" sz="2400"/>
            </a:lvl1pPr>
          </a:lstStyle>
          <a:p>
            <a:pPr/>
            <a:r>
              <a:t>Time Taken to develop the solution</a:t>
            </a:r>
          </a:p>
        </p:txBody>
      </p:sp>
      <p:sp>
        <p:nvSpPr>
          <p:cNvPr id="159"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60"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61"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62" name="| Hours| Phase                  | Work Done                                              |…"/>
          <p:cNvSpPr txBox="1"/>
          <p:nvPr/>
        </p:nvSpPr>
        <p:spPr>
          <a:xfrm>
            <a:off x="1878339" y="1447733"/>
            <a:ext cx="7183002" cy="385056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20000"/>
              </a:lnSpc>
              <a:defRPr sz="1600"/>
            </a:pPr>
            <a:r>
              <a:t>| Hours| Phase                  | Work Done                                              |</a:t>
            </a:r>
          </a:p>
          <a:p>
            <a:pPr>
              <a:lnSpc>
                <a:spcPct val="120000"/>
              </a:lnSpc>
              <a:defRPr sz="1600"/>
            </a:pPr>
            <a:r>
              <a:t>| 0-1     | Setup                  | Project scaffold, Maven, YAML, ngrok, GitHub webhook   |</a:t>
            </a:r>
          </a:p>
          <a:p>
            <a:pPr>
              <a:lnSpc>
                <a:spcPct val="120000"/>
              </a:lnSpc>
              <a:defRPr sz="1600"/>
            </a:pPr>
            <a:r>
              <a:t>| 1-2     | Security              | HMAC-SHA256 signature validator, webhook controller    |</a:t>
            </a:r>
          </a:p>
          <a:p>
            <a:pPr>
              <a:lnSpc>
                <a:spcPct val="120000"/>
              </a:lnSpc>
              <a:defRPr sz="1600"/>
            </a:pPr>
            <a:r>
              <a:t>| 2-3     | GitHub                | GitHub API client, diff parser, file classification    |</a:t>
            </a:r>
          </a:p>
          <a:p>
            <a:pPr>
              <a:lnSpc>
                <a:spcPct val="120000"/>
              </a:lnSpc>
              <a:defRPr sz="1600"/>
            </a:pPr>
            <a:r>
              <a:t>| 3-5     | AI Engine            | OpenAI client, system prompts, JSON response parsing   |</a:t>
            </a:r>
          </a:p>
          <a:p>
            <a:pPr>
              <a:lnSpc>
                <a:spcPct val="120000"/>
              </a:lnSpc>
              <a:defRPr sz="1600"/>
            </a:pPr>
            <a:r>
              <a:t>| 5-6     | Review Posting  | GitHub commenter, summary + inline issue comments      |</a:t>
            </a:r>
          </a:p>
          <a:p>
            <a:pPr>
              <a:lnSpc>
                <a:spcPct val="120000"/>
              </a:lnSpc>
              <a:defRPr sz="1600"/>
            </a:pPr>
            <a:r>
              <a:t>| 6-7     | Orchestration    | PR handler pipeline, strategy factory, agent mode      |</a:t>
            </a:r>
          </a:p>
          <a:p>
            <a:pPr>
              <a:lnSpc>
                <a:spcPct val="120000"/>
              </a:lnSpc>
              <a:defRPr sz="1600"/>
            </a:pPr>
            <a:r>
              <a:t>| 7-8     | Error Handling   | Rate limit, timeout, malformed JSON, fail-open logic   |</a:t>
            </a:r>
          </a:p>
          <a:p>
            <a:pPr>
              <a:lnSpc>
                <a:spcPct val="120000"/>
              </a:lnSpc>
              <a:defRPr sz="1600"/>
            </a:pPr>
            <a:r>
              <a:t>| 8-9     | Storage + API     | In-memory review store, REST endpoints for dashboard   |</a:t>
            </a:r>
          </a:p>
          <a:p>
            <a:pPr>
              <a:lnSpc>
                <a:spcPct val="120000"/>
              </a:lnSpc>
              <a:defRPr sz="1600"/>
            </a:pPr>
            <a:r>
              <a:t>| 9-10   | Testing                | Unit tests - validator, parser, OpenAI client, handler |</a:t>
            </a:r>
          </a:p>
          <a:p>
            <a:pPr>
              <a:lnSpc>
                <a:spcPct val="120000"/>
              </a:lnSpc>
              <a:defRPr sz="1600"/>
            </a:pPr>
            <a:r>
              <a:t>| 10-11 | Config                 | YAML config, prompt refinement, end-to-end testing     |</a:t>
            </a:r>
          </a:p>
          <a:p>
            <a:pPr>
              <a:lnSpc>
                <a:spcPct val="120000"/>
              </a:lnSpc>
              <a:defRPr sz="1600"/>
            </a:pPr>
            <a:r>
              <a:t>| 11-12 | Demo Prep        | Test PRs, bug fixes, documentation, presentation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Title 1"/>
          <p:cNvSpPr txBox="1"/>
          <p:nvPr>
            <p:ph type="title" idx="4294967295"/>
          </p:nvPr>
        </p:nvSpPr>
        <p:spPr>
          <a:xfrm>
            <a:off x="0" y="69850"/>
            <a:ext cx="10144125" cy="1092200"/>
          </a:xfrm>
          <a:prstGeom prst="rect">
            <a:avLst/>
          </a:prstGeom>
        </p:spPr>
        <p:txBody>
          <a:bodyPr/>
          <a:lstStyle>
            <a:lvl1pPr algn="ctr">
              <a:defRPr spc="-100" sz="2400"/>
            </a:lvl1pPr>
          </a:lstStyle>
          <a:p>
            <a:pPr/>
            <a:r>
              <a:t>Percentage of AI and Manual Effort</a:t>
            </a:r>
          </a:p>
        </p:txBody>
      </p:sp>
      <p:sp>
        <p:nvSpPr>
          <p:cNvPr id="165"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66"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67"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68" name="65% Manual — 35% AI-Assisted…"/>
          <p:cNvSpPr txBox="1"/>
          <p:nvPr/>
        </p:nvSpPr>
        <p:spPr>
          <a:xfrm>
            <a:off x="2010687" y="2349739"/>
            <a:ext cx="6122751" cy="148391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20000"/>
              </a:lnSpc>
              <a:defRPr sz="1600"/>
            </a:pPr>
            <a:r>
              <a:t>65% Manual — 35% AI-Assisted</a:t>
            </a:r>
          </a:p>
          <a:p>
            <a:pPr>
              <a:lnSpc>
                <a:spcPct val="120000"/>
              </a:lnSpc>
              <a:defRPr sz="1600"/>
            </a:pPr>
            <a:r>
              <a:t>	∙	Core security logic written and reasoned manually</a:t>
            </a:r>
          </a:p>
          <a:p>
            <a:pPr>
              <a:lnSpc>
                <a:spcPct val="120000"/>
              </a:lnSpc>
              <a:defRPr sz="1600"/>
            </a:pPr>
            <a:r>
              <a:t>	∙	Distributed systems design decisions made manually</a:t>
            </a:r>
          </a:p>
          <a:p>
            <a:pPr>
              <a:lnSpc>
                <a:spcPct val="120000"/>
              </a:lnSpc>
              <a:defRPr sz="1600"/>
            </a:pPr>
            <a:r>
              <a:t>	∙	AI used as a coding assistant, not an architect</a:t>
            </a:r>
          </a:p>
          <a:p>
            <a:pPr>
              <a:lnSpc>
                <a:spcPct val="120000"/>
              </a:lnSpc>
              <a:defRPr sz="1600"/>
            </a:pPr>
            <a:r>
              <a:t>	∙	All AI output reviewed, tested, and validated by the developer​​​​​​​​​​​​​​​​</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Title 1"/>
          <p:cNvSpPr txBox="1"/>
          <p:nvPr>
            <p:ph type="title" idx="4294967295"/>
          </p:nvPr>
        </p:nvSpPr>
        <p:spPr>
          <a:xfrm>
            <a:off x="0" y="69850"/>
            <a:ext cx="10144125" cy="1092200"/>
          </a:xfrm>
          <a:prstGeom prst="rect">
            <a:avLst/>
          </a:prstGeom>
        </p:spPr>
        <p:txBody>
          <a:bodyPr/>
          <a:lstStyle>
            <a:lvl1pPr algn="ctr">
              <a:defRPr spc="-100" sz="2400"/>
            </a:lvl1pPr>
          </a:lstStyle>
          <a:p>
            <a:pPr/>
            <a:r>
              <a:t>Screenshots (code and output)</a:t>
            </a:r>
          </a:p>
        </p:txBody>
      </p:sp>
      <p:sp>
        <p:nvSpPr>
          <p:cNvPr id="171"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72"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73"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pic>
        <p:nvPicPr>
          <p:cNvPr id="174" name="Screenshot 2026-06-29 at 02.53.08.png" descr="Screenshot 2026-06-29 at 02.53.08.png"/>
          <p:cNvPicPr>
            <a:picLocks noChangeAspect="1"/>
          </p:cNvPicPr>
          <p:nvPr/>
        </p:nvPicPr>
        <p:blipFill>
          <a:blip r:embed="rId3">
            <a:extLst/>
          </a:blip>
          <a:stretch>
            <a:fillRect/>
          </a:stretch>
        </p:blipFill>
        <p:spPr>
          <a:xfrm>
            <a:off x="2089275" y="2598106"/>
            <a:ext cx="3415279" cy="3398958"/>
          </a:xfrm>
          <a:prstGeom prst="rect">
            <a:avLst/>
          </a:prstGeom>
          <a:ln w="12700">
            <a:miter lim="400000"/>
          </a:ln>
        </p:spPr>
      </p:pic>
      <p:pic>
        <p:nvPicPr>
          <p:cNvPr id="175" name="Screenshot 2026-06-29 at 02.53.38.png" descr="Screenshot 2026-06-29 at 02.53.38.png"/>
          <p:cNvPicPr>
            <a:picLocks noChangeAspect="1"/>
          </p:cNvPicPr>
          <p:nvPr/>
        </p:nvPicPr>
        <p:blipFill>
          <a:blip r:embed="rId4">
            <a:extLst/>
          </a:blip>
          <a:stretch>
            <a:fillRect/>
          </a:stretch>
        </p:blipFill>
        <p:spPr>
          <a:xfrm>
            <a:off x="6589903" y="2598106"/>
            <a:ext cx="3700238" cy="3398958"/>
          </a:xfrm>
          <a:prstGeom prst="rect">
            <a:avLst/>
          </a:prstGeom>
          <a:ln w="12700">
            <a:miter lim="400000"/>
          </a:ln>
        </p:spPr>
      </p:pic>
      <p:pic>
        <p:nvPicPr>
          <p:cNvPr id="176" name="Screenshot 2026-06-29 at 02.54.40.png" descr="Screenshot 2026-06-29 at 02.54.40.png"/>
          <p:cNvPicPr>
            <a:picLocks noChangeAspect="1"/>
          </p:cNvPicPr>
          <p:nvPr/>
        </p:nvPicPr>
        <p:blipFill>
          <a:blip r:embed="rId5">
            <a:extLst/>
          </a:blip>
          <a:stretch>
            <a:fillRect/>
          </a:stretch>
        </p:blipFill>
        <p:spPr>
          <a:xfrm>
            <a:off x="2703058" y="1198220"/>
            <a:ext cx="6785884" cy="1062635"/>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itle 1"/>
          <p:cNvSpPr txBox="1"/>
          <p:nvPr>
            <p:ph type="title" idx="4294967295"/>
          </p:nvPr>
        </p:nvSpPr>
        <p:spPr>
          <a:xfrm>
            <a:off x="-1" y="69850"/>
            <a:ext cx="11915482" cy="1092200"/>
          </a:xfrm>
          <a:prstGeom prst="rect">
            <a:avLst/>
          </a:prstGeom>
        </p:spPr>
        <p:txBody>
          <a:bodyPr/>
          <a:lstStyle>
            <a:lvl1pPr algn="ctr">
              <a:defRPr spc="-100" sz="2400"/>
            </a:lvl1pPr>
          </a:lstStyle>
          <a:p>
            <a:pPr/>
            <a:r>
              <a:t>GIT HUB URL</a:t>
            </a:r>
          </a:p>
        </p:txBody>
      </p:sp>
      <p:sp>
        <p:nvSpPr>
          <p:cNvPr id="179"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80"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81"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82" name="https://github.com/rachitm96/pr-review-bot"/>
          <p:cNvSpPr txBox="1"/>
          <p:nvPr/>
        </p:nvSpPr>
        <p:spPr>
          <a:xfrm>
            <a:off x="3968670" y="2301540"/>
            <a:ext cx="4254660"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https://github.com/rachitm96/pr-review-bot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itle 1"/>
          <p:cNvSpPr txBox="1"/>
          <p:nvPr>
            <p:ph type="title" idx="4294967295"/>
          </p:nvPr>
        </p:nvSpPr>
        <p:spPr>
          <a:xfrm>
            <a:off x="-1" y="69849"/>
            <a:ext cx="11868348" cy="3106985"/>
          </a:xfrm>
          <a:prstGeom prst="rect">
            <a:avLst/>
          </a:prstGeom>
        </p:spPr>
        <p:txBody>
          <a:bodyPr/>
          <a:lstStyle>
            <a:lvl1pPr algn="ctr">
              <a:defRPr spc="-100" sz="9600"/>
            </a:lvl1pPr>
          </a:lstStyle>
          <a:p>
            <a:pPr/>
            <a:r>
              <a:t>THANK YOU</a:t>
            </a:r>
          </a:p>
        </p:txBody>
      </p:sp>
      <p:sp>
        <p:nvSpPr>
          <p:cNvPr id="185" name="Subtitle 2"/>
          <p:cNvSpPr txBox="1"/>
          <p:nvPr>
            <p:ph type="body" sz="quarter" idx="4294967295"/>
          </p:nvPr>
        </p:nvSpPr>
        <p:spPr>
          <a:xfrm>
            <a:off x="10479088" y="6551613"/>
            <a:ext cx="1712912" cy="236537"/>
          </a:xfrm>
          <a:prstGeom prst="rect">
            <a:avLst/>
          </a:prstGeom>
        </p:spPr>
        <p:txBody>
          <a:bodyPr/>
          <a:lstStyle>
            <a:lvl1pPr>
              <a:lnSpc>
                <a:spcPct val="72000"/>
              </a:lnSpc>
              <a:defRPr b="1" sz="1100"/>
            </a:lvl1pPr>
          </a:lstStyle>
          <a:p>
            <a:pPr/>
            <a:r>
              <a:t>AI HACKATHON</a:t>
            </a:r>
          </a:p>
        </p:txBody>
      </p:sp>
      <p:pic>
        <p:nvPicPr>
          <p:cNvPr id="186" name="Picture 3" descr="Picture 3"/>
          <p:cNvPicPr>
            <a:picLocks noChangeAspect="1"/>
          </p:cNvPicPr>
          <p:nvPr/>
        </p:nvPicPr>
        <p:blipFill>
          <a:blip r:embed="rId2">
            <a:extLst/>
          </a:blip>
          <a:stretch>
            <a:fillRect/>
          </a:stretch>
        </p:blipFill>
        <p:spPr>
          <a:xfrm>
            <a:off x="0" y="0"/>
            <a:ext cx="957156" cy="695004"/>
          </a:xfrm>
          <a:prstGeom prst="rect">
            <a:avLst/>
          </a:prstGeom>
          <a:ln w="12700">
            <a:miter lim="400000"/>
          </a:ln>
        </p:spPr>
      </p:pic>
      <p:sp>
        <p:nvSpPr>
          <p:cNvPr id="187" name="TextBox 4"/>
          <p:cNvSpPr txBox="1"/>
          <p:nvPr/>
        </p:nvSpPr>
        <p:spPr>
          <a:xfrm>
            <a:off x="45719" y="6488667"/>
            <a:ext cx="6002989"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vl1pPr>
          </a:lstStyle>
          <a:p>
            <a:pPr/>
            <a:r>
              <a:t>Copyright ©VLink Inc. 2025, U.S.| Canada | India | Indonesia</a:t>
            </a:r>
          </a:p>
        </p:txBody>
      </p:sp>
      <p:sp>
        <p:nvSpPr>
          <p:cNvPr id="188" name="TextBox 6"/>
          <p:cNvSpPr txBox="1"/>
          <p:nvPr/>
        </p:nvSpPr>
        <p:spPr>
          <a:xfrm>
            <a:off x="45719" y="5674450"/>
            <a:ext cx="10174349" cy="878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900">
                <a:solidFill>
                  <a:srgbClr val="0070C0"/>
                </a:solidFill>
                <a:latin typeface="-apple-system"/>
                <a:ea typeface="-apple-system"/>
                <a:cs typeface="-apple-system"/>
                <a:sym typeface="-apple-system"/>
              </a:defRPr>
            </a:pPr>
            <a:r>
              <a:t>This document/material contains confidential and proprietary information intended solely for the participants of this AI Hackathon. The content, ideas, data, code, and discussions shared as part of this event should not be disclosed, distributed, or used outside the scope of the hackathon without prior authorization.</a:t>
            </a:r>
          </a:p>
          <a:p>
            <a:pPr>
              <a:defRPr sz="900">
                <a:solidFill>
                  <a:srgbClr val="0070C0"/>
                </a:solidFill>
                <a:latin typeface="-apple-system"/>
                <a:ea typeface="-apple-system"/>
                <a:cs typeface="-apple-system"/>
                <a:sym typeface="-apple-system"/>
              </a:defRPr>
            </a:pPr>
            <a:r>
              <a:t>Please ensure that any sensitive information, internal data, or intellectual property shared during the hackathon is handled responsibly.</a:t>
            </a:r>
          </a:p>
          <a:p>
            <a:pPr>
              <a:defRPr sz="2400">
                <a:latin typeface="-apple-system"/>
                <a:ea typeface="-apple-system"/>
                <a:cs typeface="-apple-system"/>
                <a:sym typeface="-apple-system"/>
              </a:defRPr>
            </a:pPr>
            <a:r>
              <a: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Calibri"/>
        <a:ea typeface="Calibri"/>
        <a:cs typeface="Calibri"/>
      </a:majorFont>
      <a:minorFont>
        <a:latin typeface="Helvetica"/>
        <a:ea typeface="Helvetica"/>
        <a:cs typeface="Helvetica"/>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2700000">
              <a:srgbClr val="000000">
                <a:alpha val="60000"/>
              </a:srgbClr>
            </a:outerShdw>
          </a:effectLst>
        </a:effectStyle>
        <a:effectStyle>
          <a:effectLst>
            <a:outerShdw sx="100000" sy="100000" kx="0" ky="0" algn="b" rotWithShape="0" blurRad="38100" dist="25400" dir="270000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outerShdw sx="100000" sy="100000" kx="0" ky="0" algn="b" rotWithShape="0" blurRad="38100" dist="25400" dir="2700000">
            <a:srgbClr val="000000">
              <a:alpha val="60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Calibri"/>
        <a:ea typeface="Calibri"/>
        <a:cs typeface="Calibri"/>
      </a:majorFont>
      <a:minorFont>
        <a:latin typeface="Helvetica"/>
        <a:ea typeface="Helvetica"/>
        <a:cs typeface="Helvetica"/>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2700000">
              <a:srgbClr val="000000">
                <a:alpha val="60000"/>
              </a:srgbClr>
            </a:outerShdw>
          </a:effectLst>
        </a:effectStyle>
        <a:effectStyle>
          <a:effectLst>
            <a:outerShdw sx="100000" sy="100000" kx="0" ky="0" algn="b" rotWithShape="0" blurRad="38100" dist="25400" dir="270000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outerShdw sx="100000" sy="100000" kx="0" ky="0" algn="b" rotWithShape="0" blurRad="38100" dist="25400" dir="2700000">
            <a:srgbClr val="000000">
              <a:alpha val="60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